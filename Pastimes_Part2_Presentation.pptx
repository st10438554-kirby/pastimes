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4134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926080" cy="5143500"/>
          </a:xfrm>
          <a:prstGeom prst="rect">
            <a:avLst/>
          </a:prstGeom>
          <a:solidFill>
            <a:srgbClr val="2C5F3E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" name="Shape 1"/>
          <p:cNvSpPr/>
          <p:nvPr/>
        </p:nvSpPr>
        <p:spPr>
          <a:xfrm>
            <a:off x="2743200" y="0"/>
            <a:ext cx="182880" cy="5143500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4" name="Text 2"/>
          <p:cNvSpPr/>
          <p:nvPr/>
        </p:nvSpPr>
        <p:spPr>
          <a:xfrm>
            <a:off x="91440" y="258494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kern="0" spc="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HYPE WEAR SA</a:t>
            </a:r>
          </a:p>
          <a:p>
            <a:pPr marL="0" indent="0" algn="ctr">
              <a:buNone/>
            </a:pPr>
            <a:r>
              <a:rPr lang="en-US" sz="1200" b="1" kern="0" spc="600" dirty="0">
                <a:solidFill>
                  <a:srgbClr val="FFFFFF"/>
                </a:solidFill>
                <a:latin typeface="Georgia" pitchFamily="34" charset="0"/>
              </a:rPr>
              <a:t>Clothing Store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2011680" cy="36576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6" name="Text 4"/>
          <p:cNvSpPr/>
          <p:nvPr/>
        </p:nvSpPr>
        <p:spPr>
          <a:xfrm>
            <a:off x="137160" y="109728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D4EDE0"/>
                </a:solidFill>
              </a:rPr>
              <a:t>Online Marketplace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82880" y="182880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A84C"/>
                </a:solidFill>
              </a:rPr>
              <a:t>Module:</a:t>
            </a:r>
            <a:r>
              <a:rPr lang="en-US" sz="1000" dirty="0">
                <a:solidFill>
                  <a:srgbClr val="D4EDE0"/>
                </a:solidFill>
              </a:rPr>
              <a:t>  WEDE6021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82880" y="21945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A84C"/>
                </a:solidFill>
              </a:rPr>
              <a:t>Part:</a:t>
            </a:r>
            <a:r>
              <a:rPr lang="en-US" sz="1000" dirty="0">
                <a:solidFill>
                  <a:srgbClr val="D4EDE0"/>
                </a:solidFill>
              </a:rPr>
              <a:t>  2 – Web Application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2880" y="27432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A84C"/>
                </a:solidFill>
              </a:rPr>
              <a:t>Group Members: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82880" y="306324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EDE0"/>
                </a:solidFill>
              </a:rPr>
              <a:t>Armalene Magerman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82880" y="333756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EDE0"/>
                </a:solidFill>
              </a:rPr>
              <a:t>Chloe Langenhoven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82880" y="3611880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EDE0"/>
                </a:solidFill>
              </a:rPr>
              <a:t>Rafiqah Kirby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82880" y="41148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A7A68"/>
                </a:solidFill>
              </a:rPr>
              <a:t>Due: 04 April 2026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108960" y="4572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A9B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108960" y="1005840"/>
            <a:ext cx="5760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Screen-by-Screen</a:t>
            </a:r>
            <a:endParaRPr lang="en-US" sz="4200" dirty="0"/>
          </a:p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Walkthrough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3108960" y="2514600"/>
            <a:ext cx="5760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D4EDE0"/>
                </a:solidFill>
              </a:rPr>
              <a:t>A complete tour of the Hype Wear Clothing Store web application —</a:t>
            </a:r>
            <a:endParaRPr lang="en-US" sz="1300" dirty="0"/>
          </a:p>
          <a:p>
            <a:pPr marL="0" indent="0">
              <a:buNone/>
            </a:pPr>
            <a:r>
              <a:rPr lang="en-US" sz="1300" i="1" dirty="0">
                <a:solidFill>
                  <a:srgbClr val="D4EDE0"/>
                </a:solidFill>
              </a:rPr>
              <a:t>each screen explained with a live demo video.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108960" y="3383280"/>
            <a:ext cx="5760720" cy="1463040"/>
          </a:xfrm>
          <a:prstGeom prst="rect">
            <a:avLst/>
          </a:prstGeom>
          <a:solidFill>
            <a:srgbClr val="0D2218"/>
          </a:solidFill>
          <a:ln w="25400">
            <a:solidFill>
              <a:srgbClr val="4A9B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8" name="Shape 16"/>
          <p:cNvSpPr/>
          <p:nvPr/>
        </p:nvSpPr>
        <p:spPr>
          <a:xfrm>
            <a:off x="5669280" y="3794760"/>
            <a:ext cx="640080" cy="640080"/>
          </a:xfrm>
          <a:prstGeom prst="ellipse">
            <a:avLst/>
          </a:prstGeom>
          <a:solidFill>
            <a:srgbClr val="4A9B6F">
              <a:alpha val="80000"/>
            </a:srgbClr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Text 17"/>
          <p:cNvSpPr/>
          <p:nvPr/>
        </p:nvSpPr>
        <p:spPr>
          <a:xfrm>
            <a:off x="5788152" y="3931920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▶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108960" y="452628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4A9B6F"/>
                </a:solidFill>
              </a:rPr>
              <a:t>[ INSERT VIDEO HERE ]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2A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4" name="Text 2"/>
          <p:cNvSpPr/>
          <p:nvPr/>
        </p:nvSpPr>
        <p:spPr>
          <a:xfrm>
            <a:off x="14068" y="182880"/>
            <a:ext cx="31370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kern="0" spc="300" dirty="0">
                <a:solidFill>
                  <a:srgbClr val="4A9B6F"/>
                </a:solidFill>
                <a:latin typeface="Georgia" pitchFamily="34" charset="0"/>
              </a:rPr>
              <a:t>HYPE WEAR SA</a:t>
            </a:r>
          </a:p>
          <a:p>
            <a:r>
              <a:rPr lang="en-US" sz="1400" b="1" kern="0" spc="300" dirty="0">
                <a:solidFill>
                  <a:srgbClr val="4A9B6F"/>
                </a:solidFill>
                <a:latin typeface="Georgia" pitchFamily="34" charset="0"/>
              </a:rPr>
              <a:t>Clothing Store</a:t>
            </a:r>
            <a:endParaRPr lang="en-US" sz="1400" dirty="0"/>
          </a:p>
          <a:p>
            <a:pPr marL="0" indent="0">
              <a:buNone/>
            </a:pP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263706" y="91440"/>
            <a:ext cx="569741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 Page &amp; Product Browsing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82880" y="868680"/>
            <a:ext cx="8778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A7A68"/>
                </a:solidFill>
              </a:rPr>
              <a:t>The main landing screen where users discover and filter products.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82880" y="1234440"/>
            <a:ext cx="411480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Screen Does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737360"/>
            <a:ext cx="3749040" cy="36576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365760" y="18745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Displays all approved product listings with images, price, and condition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5760" y="23317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Users can search by keyword (brand, type, name)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" y="27889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Filter products by size, price range, brand, and condition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" y="32461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Navigation to Login, Register, Cart, and Profile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5760" y="37033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Featured/latest listings shown prominently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5760" y="41605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Responsive grid layout works on mobile and desktop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480560" y="1234440"/>
            <a:ext cx="4480560" cy="3566160"/>
          </a:xfrm>
          <a:prstGeom prst="rect">
            <a:avLst/>
          </a:prstGeom>
          <a:solidFill>
            <a:srgbClr val="0D2218"/>
          </a:solidFill>
          <a:ln w="25400">
            <a:solidFill>
              <a:srgbClr val="4A9B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7" name="Shape 15"/>
          <p:cNvSpPr/>
          <p:nvPr/>
        </p:nvSpPr>
        <p:spPr>
          <a:xfrm>
            <a:off x="6400800" y="2697480"/>
            <a:ext cx="640080" cy="640080"/>
          </a:xfrm>
          <a:prstGeom prst="ellipse">
            <a:avLst/>
          </a:prstGeom>
          <a:solidFill>
            <a:srgbClr val="4A9B6F">
              <a:alpha val="80000"/>
            </a:srgbClr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Text 16"/>
          <p:cNvSpPr/>
          <p:nvPr/>
        </p:nvSpPr>
        <p:spPr>
          <a:xfrm>
            <a:off x="6519672" y="2834640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▶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480560" y="448056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4A9B6F"/>
                </a:solidFill>
              </a:rPr>
              <a:t>[ INSERT VIDEO HERE ]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82880" y="4846320"/>
            <a:ext cx="1280160" cy="201168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1" name="Text 19"/>
          <p:cNvSpPr/>
          <p:nvPr/>
        </p:nvSpPr>
        <p:spPr>
          <a:xfrm>
            <a:off x="182880" y="484632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SCREEN 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2A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4" name="Text 2"/>
          <p:cNvSpPr/>
          <p:nvPr/>
        </p:nvSpPr>
        <p:spPr>
          <a:xfrm>
            <a:off x="182879" y="91440"/>
            <a:ext cx="289091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kern="0" spc="300" dirty="0">
                <a:solidFill>
                  <a:srgbClr val="4A9B6F"/>
                </a:solidFill>
                <a:latin typeface="Georgia" pitchFamily="34" charset="0"/>
              </a:rPr>
              <a:t>HYPE WEAR SA</a:t>
            </a:r>
          </a:p>
          <a:p>
            <a:r>
              <a:rPr lang="en-US" sz="1400" b="1" kern="0" spc="300" dirty="0">
                <a:solidFill>
                  <a:srgbClr val="4A9B6F"/>
                </a:solidFill>
                <a:latin typeface="Georgia" pitchFamily="34" charset="0"/>
              </a:rPr>
              <a:t>Clothing Store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207434" y="91440"/>
            <a:ext cx="575368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Login &amp; User Registration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82880" y="868680"/>
            <a:ext cx="8778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A7A68"/>
                </a:solidFill>
              </a:rPr>
              <a:t>Secure access portal for buyers, sellers, and administrators.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82880" y="1234440"/>
            <a:ext cx="411480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Screen Does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737360"/>
            <a:ext cx="3749040" cy="36576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365760" y="18745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Users create new accounts with name, email, and password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5760" y="23317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Input validation ensures correct format (email structure, password strength)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" y="27889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Returning users log in with email and password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" y="32461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Role assignment: Buyer or Seller selected at registration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5760" y="37033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Secure password encryption before storing in database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5760" y="41605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Admin login redirects to the admin dashboard panel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480560" y="1234440"/>
            <a:ext cx="4480560" cy="3566160"/>
          </a:xfrm>
          <a:prstGeom prst="rect">
            <a:avLst/>
          </a:prstGeom>
          <a:solidFill>
            <a:srgbClr val="0D2218"/>
          </a:solidFill>
          <a:ln w="25400">
            <a:solidFill>
              <a:srgbClr val="4A9B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7" name="Shape 15"/>
          <p:cNvSpPr/>
          <p:nvPr/>
        </p:nvSpPr>
        <p:spPr>
          <a:xfrm>
            <a:off x="6400800" y="2697480"/>
            <a:ext cx="640080" cy="640080"/>
          </a:xfrm>
          <a:prstGeom prst="ellipse">
            <a:avLst/>
          </a:prstGeom>
          <a:solidFill>
            <a:srgbClr val="4A9B6F">
              <a:alpha val="80000"/>
            </a:srgbClr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Text 16"/>
          <p:cNvSpPr/>
          <p:nvPr/>
        </p:nvSpPr>
        <p:spPr>
          <a:xfrm>
            <a:off x="6519672" y="2834640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▶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480560" y="448056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4A9B6F"/>
                </a:solidFill>
              </a:rPr>
              <a:t>[ INSERT VIDEO HERE ]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82880" y="4846320"/>
            <a:ext cx="1280160" cy="201168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1" name="Text 19"/>
          <p:cNvSpPr/>
          <p:nvPr/>
        </p:nvSpPr>
        <p:spPr>
          <a:xfrm>
            <a:off x="182880" y="484632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SCREEN 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068" y="0"/>
            <a:ext cx="9144000" cy="777240"/>
          </a:xfrm>
          <a:prstGeom prst="rect">
            <a:avLst/>
          </a:prstGeom>
          <a:solidFill>
            <a:srgbClr val="1A3A2A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4" name="Text 2"/>
          <p:cNvSpPr/>
          <p:nvPr/>
        </p:nvSpPr>
        <p:spPr>
          <a:xfrm>
            <a:off x="182879" y="91440"/>
            <a:ext cx="241964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kern="0" spc="300" dirty="0">
                <a:solidFill>
                  <a:srgbClr val="4A9B6F"/>
                </a:solidFill>
                <a:latin typeface="Georgia" pitchFamily="34" charset="0"/>
              </a:rPr>
              <a:t>HYPE WEAR SA</a:t>
            </a:r>
          </a:p>
          <a:p>
            <a:pPr marL="0" indent="0">
              <a:buNone/>
            </a:pPr>
            <a:r>
              <a:rPr lang="en-US" sz="1100" b="1" kern="0" spc="300" dirty="0">
                <a:solidFill>
                  <a:srgbClr val="4A9B6F"/>
                </a:solidFill>
                <a:latin typeface="Georgia" pitchFamily="34" charset="0"/>
              </a:rPr>
              <a:t>Clothing Store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010486" y="91440"/>
            <a:ext cx="5950633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Seller Dashboard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82880" y="868680"/>
            <a:ext cx="8778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A7A68"/>
                </a:solidFill>
              </a:rPr>
              <a:t>Where approved sellers manage their product listings and performance.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82880" y="1234440"/>
            <a:ext cx="411480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Screen Does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737360"/>
            <a:ext cx="3749040" cy="36576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365760" y="18745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Only accessible to admin-verified sellers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5760" y="23317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Add new product listings with photo, name, description, price, size, and condition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" y="27889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Edit or delete existing product listings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" y="32461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View all submitted listings and their approval status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5760" y="37033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Track number of sales completed and messages received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5760" y="41605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Apply to become a seller (sent to admin for approval)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480560" y="1234440"/>
            <a:ext cx="4480560" cy="3566160"/>
          </a:xfrm>
          <a:prstGeom prst="rect">
            <a:avLst/>
          </a:prstGeom>
          <a:solidFill>
            <a:srgbClr val="0D2218"/>
          </a:solidFill>
          <a:ln w="25400">
            <a:solidFill>
              <a:srgbClr val="4A9B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7" name="Shape 15"/>
          <p:cNvSpPr/>
          <p:nvPr/>
        </p:nvSpPr>
        <p:spPr>
          <a:xfrm>
            <a:off x="6400800" y="2697480"/>
            <a:ext cx="640080" cy="640080"/>
          </a:xfrm>
          <a:prstGeom prst="ellipse">
            <a:avLst/>
          </a:prstGeom>
          <a:solidFill>
            <a:srgbClr val="4A9B6F">
              <a:alpha val="80000"/>
            </a:srgbClr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Text 16"/>
          <p:cNvSpPr/>
          <p:nvPr/>
        </p:nvSpPr>
        <p:spPr>
          <a:xfrm>
            <a:off x="6519672" y="2834640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▶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480560" y="448056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4A9B6F"/>
                </a:solidFill>
              </a:rPr>
              <a:t>[ INSERT VIDEO HERE ]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82880" y="4846320"/>
            <a:ext cx="1280160" cy="201168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1" name="Text 19"/>
          <p:cNvSpPr/>
          <p:nvPr/>
        </p:nvSpPr>
        <p:spPr>
          <a:xfrm>
            <a:off x="182880" y="484632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SCREEN 3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860"/>
            <a:ext cx="9144000" cy="777240"/>
          </a:xfrm>
          <a:prstGeom prst="rect">
            <a:avLst/>
          </a:prstGeom>
          <a:solidFill>
            <a:srgbClr val="1A3A2A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4" name="Text 2"/>
          <p:cNvSpPr/>
          <p:nvPr/>
        </p:nvSpPr>
        <p:spPr>
          <a:xfrm>
            <a:off x="14067" y="91440"/>
            <a:ext cx="289794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kern="0" spc="300" dirty="0">
                <a:solidFill>
                  <a:srgbClr val="4A9B6F"/>
                </a:solidFill>
                <a:latin typeface="Georgia" pitchFamily="34" charset="0"/>
              </a:rPr>
              <a:t>HYPE WEAR SA</a:t>
            </a:r>
          </a:p>
          <a:p>
            <a:r>
              <a:rPr lang="en-US" sz="1400" b="1" kern="0" spc="300" dirty="0">
                <a:solidFill>
                  <a:srgbClr val="4A9B6F"/>
                </a:solidFill>
                <a:latin typeface="Georgia" pitchFamily="34" charset="0"/>
              </a:rPr>
              <a:t>Clothing Store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144128" y="91440"/>
            <a:ext cx="581699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Detail Page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82880" y="868680"/>
            <a:ext cx="8778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A7A68"/>
                </a:solidFill>
              </a:rPr>
              <a:t>Full item view — buyers get all info and can message the seller.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82880" y="1234440"/>
            <a:ext cx="411480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Screen Does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737360"/>
            <a:ext cx="3749040" cy="36576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365760" y="18745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Shows full product photo, name, description, and condition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5760" y="23317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Displays price, brand, size, and seller info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" y="27889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Buyer can add item to their shopping cart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" y="32461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Integrated messaging: buyers can directly contact the seller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5760" y="37033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Only approved products are visible to buyers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5760" y="41605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Admin-removed items are no longer accessible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480560" y="1234440"/>
            <a:ext cx="4480560" cy="3566160"/>
          </a:xfrm>
          <a:prstGeom prst="rect">
            <a:avLst/>
          </a:prstGeom>
          <a:solidFill>
            <a:srgbClr val="0D2218"/>
          </a:solidFill>
          <a:ln w="25400">
            <a:solidFill>
              <a:srgbClr val="4A9B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7" name="Shape 15"/>
          <p:cNvSpPr/>
          <p:nvPr/>
        </p:nvSpPr>
        <p:spPr>
          <a:xfrm>
            <a:off x="6400800" y="2697480"/>
            <a:ext cx="640080" cy="640080"/>
          </a:xfrm>
          <a:prstGeom prst="ellipse">
            <a:avLst/>
          </a:prstGeom>
          <a:solidFill>
            <a:srgbClr val="4A9B6F">
              <a:alpha val="80000"/>
            </a:srgbClr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Text 16"/>
          <p:cNvSpPr/>
          <p:nvPr/>
        </p:nvSpPr>
        <p:spPr>
          <a:xfrm>
            <a:off x="6519672" y="2834640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▶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480560" y="448056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4A9B6F"/>
                </a:solidFill>
              </a:rPr>
              <a:t>[ INSERT VIDEO HERE ]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82880" y="4846320"/>
            <a:ext cx="1280160" cy="201168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1" name="Text 19"/>
          <p:cNvSpPr/>
          <p:nvPr/>
        </p:nvSpPr>
        <p:spPr>
          <a:xfrm>
            <a:off x="182880" y="484632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SCREEN 4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2A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4" name="Text 2"/>
          <p:cNvSpPr/>
          <p:nvPr/>
        </p:nvSpPr>
        <p:spPr>
          <a:xfrm>
            <a:off x="17585" y="91440"/>
            <a:ext cx="286277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kern="0" spc="300" dirty="0">
                <a:solidFill>
                  <a:srgbClr val="4A9B6F"/>
                </a:solidFill>
                <a:latin typeface="Georgia" pitchFamily="34" charset="0"/>
              </a:rPr>
              <a:t>HYPE WEAR SA</a:t>
            </a:r>
          </a:p>
          <a:p>
            <a:r>
              <a:rPr lang="en-US" sz="1400" b="1" kern="0" spc="300" dirty="0">
                <a:solidFill>
                  <a:srgbClr val="4A9B6F"/>
                </a:solidFill>
                <a:latin typeface="Georgia" pitchFamily="34" charset="0"/>
              </a:rPr>
              <a:t>Clothing Store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897944" y="91440"/>
            <a:ext cx="606317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Shopping Cart &amp; Checkout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82880" y="868680"/>
            <a:ext cx="8778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A7A68"/>
                </a:solidFill>
              </a:rPr>
              <a:t>Secure purchase flow — from cart review to order confirmation.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82880" y="1234440"/>
            <a:ext cx="411480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Screen Does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737360"/>
            <a:ext cx="3749040" cy="36576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365760" y="18745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Cart lists all items added by the buyer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5760" y="23317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Buyer can add, remove, or adjust item quantities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" y="27889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Running total price is calculated and displayed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" y="32461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Checkout initiates secure payment processing via API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5760" y="37033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Order details saved: product, quantity, total, date, and status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5760" y="41605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Order history accessible from the user's account profile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480560" y="1234440"/>
            <a:ext cx="4480560" cy="3566160"/>
          </a:xfrm>
          <a:prstGeom prst="rect">
            <a:avLst/>
          </a:prstGeom>
          <a:solidFill>
            <a:srgbClr val="0D2218"/>
          </a:solidFill>
          <a:ln w="25400">
            <a:solidFill>
              <a:srgbClr val="4A9B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7" name="Shape 15"/>
          <p:cNvSpPr/>
          <p:nvPr/>
        </p:nvSpPr>
        <p:spPr>
          <a:xfrm>
            <a:off x="6400800" y="2697480"/>
            <a:ext cx="640080" cy="640080"/>
          </a:xfrm>
          <a:prstGeom prst="ellipse">
            <a:avLst/>
          </a:prstGeom>
          <a:solidFill>
            <a:srgbClr val="4A9B6F">
              <a:alpha val="80000"/>
            </a:srgbClr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Text 16"/>
          <p:cNvSpPr/>
          <p:nvPr/>
        </p:nvSpPr>
        <p:spPr>
          <a:xfrm>
            <a:off x="6519672" y="2834640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▶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480560" y="448056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4A9B6F"/>
                </a:solidFill>
              </a:rPr>
              <a:t>[ INSERT VIDEO HERE ]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82880" y="4846320"/>
            <a:ext cx="1280160" cy="201168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1" name="Text 19"/>
          <p:cNvSpPr/>
          <p:nvPr/>
        </p:nvSpPr>
        <p:spPr>
          <a:xfrm>
            <a:off x="182880" y="484632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SCREEN 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-22860"/>
            <a:ext cx="9144000" cy="777240"/>
          </a:xfrm>
          <a:prstGeom prst="rect">
            <a:avLst/>
          </a:prstGeom>
          <a:solidFill>
            <a:srgbClr val="1A3A2A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4" name="Text 2"/>
          <p:cNvSpPr/>
          <p:nvPr/>
        </p:nvSpPr>
        <p:spPr>
          <a:xfrm>
            <a:off x="0" y="100584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kern="0" spc="300" dirty="0">
                <a:solidFill>
                  <a:srgbClr val="4A9B6F"/>
                </a:solidFill>
                <a:latin typeface="Georgia" pitchFamily="34" charset="0"/>
              </a:rPr>
              <a:t>HYPE WEAR SA</a:t>
            </a:r>
          </a:p>
          <a:p>
            <a:r>
              <a:rPr lang="en-US" sz="1400" b="1" kern="0" spc="300" dirty="0">
                <a:solidFill>
                  <a:srgbClr val="4A9B6F"/>
                </a:solidFill>
                <a:latin typeface="Georgia" pitchFamily="34" charset="0"/>
              </a:rPr>
              <a:t>Clothing Store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066757" y="91440"/>
            <a:ext cx="58943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Messaging &amp; Inbox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82880" y="868680"/>
            <a:ext cx="8778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A7A68"/>
                </a:solidFill>
              </a:rPr>
              <a:t>Direct buyer-to-seller communication, stored in the database.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82880" y="1234440"/>
            <a:ext cx="411480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Screen Does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737360"/>
            <a:ext cx="3749040" cy="36576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365760" y="18745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Buyers can send inquiries directly to sellers about any product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5760" y="23317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Sellers can reply and view messages in their inbox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" y="27889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All messages stored with sender ID, receiver ID, and timestamp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" y="32461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Sent messages are also accessible in the sent folder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5760" y="37033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Keeps communication within the platform (no external contact needed)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5760" y="41605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Messaging history is retrievable for both parties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480560" y="1234440"/>
            <a:ext cx="4480560" cy="3566160"/>
          </a:xfrm>
          <a:prstGeom prst="rect">
            <a:avLst/>
          </a:prstGeom>
          <a:solidFill>
            <a:srgbClr val="0D2218"/>
          </a:solidFill>
          <a:ln w="25400">
            <a:solidFill>
              <a:srgbClr val="4A9B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7" name="Shape 15"/>
          <p:cNvSpPr/>
          <p:nvPr/>
        </p:nvSpPr>
        <p:spPr>
          <a:xfrm>
            <a:off x="6400800" y="2697480"/>
            <a:ext cx="640080" cy="640080"/>
          </a:xfrm>
          <a:prstGeom prst="ellipse">
            <a:avLst/>
          </a:prstGeom>
          <a:solidFill>
            <a:srgbClr val="4A9B6F">
              <a:alpha val="80000"/>
            </a:srgbClr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Text 16"/>
          <p:cNvSpPr/>
          <p:nvPr/>
        </p:nvSpPr>
        <p:spPr>
          <a:xfrm>
            <a:off x="6519672" y="2834640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▶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480560" y="448056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4A9B6F"/>
                </a:solidFill>
              </a:rPr>
              <a:t>[ INSERT VIDEO HERE ]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82880" y="4846320"/>
            <a:ext cx="1280160" cy="201168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1" name="Text 19"/>
          <p:cNvSpPr/>
          <p:nvPr/>
        </p:nvSpPr>
        <p:spPr>
          <a:xfrm>
            <a:off x="182880" y="484632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SCREEN 6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860"/>
            <a:ext cx="9144000" cy="777240"/>
          </a:xfrm>
          <a:prstGeom prst="rect">
            <a:avLst/>
          </a:prstGeom>
          <a:solidFill>
            <a:srgbClr val="1A3A2A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4" name="Text 2"/>
          <p:cNvSpPr/>
          <p:nvPr/>
        </p:nvSpPr>
        <p:spPr>
          <a:xfrm>
            <a:off x="31652" y="86868"/>
            <a:ext cx="286277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kern="0" spc="300" dirty="0">
                <a:solidFill>
                  <a:srgbClr val="4A9B6F"/>
                </a:solidFill>
                <a:latin typeface="Georgia" pitchFamily="34" charset="0"/>
              </a:rPr>
              <a:t>HYPE WEAR SA</a:t>
            </a:r>
          </a:p>
          <a:p>
            <a:r>
              <a:rPr lang="en-US" sz="1400" b="1" kern="0" spc="300" dirty="0">
                <a:solidFill>
                  <a:srgbClr val="4A9B6F"/>
                </a:solidFill>
                <a:latin typeface="Georgia" pitchFamily="34" charset="0"/>
              </a:rPr>
              <a:t>Clothing Store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982350" y="91440"/>
            <a:ext cx="597876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Admin Panel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82880" y="868680"/>
            <a:ext cx="8778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A7A68"/>
                </a:solidFill>
              </a:rPr>
              <a:t>Control centre for approving sellers, products, and system management.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82880" y="1234440"/>
            <a:ext cx="411480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Screen Does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737360"/>
            <a:ext cx="3749040" cy="36576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365760" y="18745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Admin reviews and approves or rejects seller applications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5760" y="23317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Admin approves or rejects product listings before they go live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" y="27889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Remove inappropriate or flagged listings from the platform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" y="32461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View all registered users, sellers, and product listings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5760" y="37033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System activity logs tracked for accountability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5760" y="41605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Admin login is separate and secured (adminLogin.php)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480560" y="1234440"/>
            <a:ext cx="4480560" cy="3566160"/>
          </a:xfrm>
          <a:prstGeom prst="rect">
            <a:avLst/>
          </a:prstGeom>
          <a:solidFill>
            <a:srgbClr val="0D2218"/>
          </a:solidFill>
          <a:ln w="25400">
            <a:solidFill>
              <a:srgbClr val="4A9B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7" name="Shape 15"/>
          <p:cNvSpPr/>
          <p:nvPr/>
        </p:nvSpPr>
        <p:spPr>
          <a:xfrm>
            <a:off x="6400800" y="2697480"/>
            <a:ext cx="640080" cy="640080"/>
          </a:xfrm>
          <a:prstGeom prst="ellipse">
            <a:avLst/>
          </a:prstGeom>
          <a:solidFill>
            <a:srgbClr val="4A9B6F">
              <a:alpha val="80000"/>
            </a:srgbClr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Text 16"/>
          <p:cNvSpPr/>
          <p:nvPr/>
        </p:nvSpPr>
        <p:spPr>
          <a:xfrm>
            <a:off x="6519672" y="2834640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▶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480560" y="448056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4A9B6F"/>
                </a:solidFill>
              </a:rPr>
              <a:t>[ INSERT VIDEO HERE ]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82880" y="4846320"/>
            <a:ext cx="1280160" cy="201168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1" name="Text 19"/>
          <p:cNvSpPr/>
          <p:nvPr/>
        </p:nvSpPr>
        <p:spPr>
          <a:xfrm>
            <a:off x="182880" y="484632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SCREEN 7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B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2860"/>
            <a:ext cx="9144000" cy="777240"/>
          </a:xfrm>
          <a:prstGeom prst="rect">
            <a:avLst/>
          </a:prstGeom>
          <a:solidFill>
            <a:srgbClr val="1A3A2A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" name="Shape 1"/>
          <p:cNvSpPr/>
          <p:nvPr/>
        </p:nvSpPr>
        <p:spPr>
          <a:xfrm>
            <a:off x="0" y="749808"/>
            <a:ext cx="9144000" cy="54864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4" name="Text 2"/>
          <p:cNvSpPr/>
          <p:nvPr/>
        </p:nvSpPr>
        <p:spPr>
          <a:xfrm>
            <a:off x="17584" y="112014"/>
            <a:ext cx="289091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kern="0" spc="300" dirty="0">
                <a:solidFill>
                  <a:srgbClr val="4A9B6F"/>
                </a:solidFill>
                <a:latin typeface="Georgia" pitchFamily="34" charset="0"/>
              </a:rPr>
              <a:t>HYPE WEAR SA</a:t>
            </a:r>
          </a:p>
          <a:p>
            <a:r>
              <a:rPr lang="en-US" sz="1400" b="1" kern="0" spc="300" dirty="0">
                <a:solidFill>
                  <a:srgbClr val="4A9B6F"/>
                </a:solidFill>
                <a:latin typeface="Georgia" pitchFamily="34" charset="0"/>
              </a:rPr>
              <a:t>Clothing Store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908495" y="91440"/>
            <a:ext cx="605262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User Profile &amp; Order History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82880" y="868680"/>
            <a:ext cx="8778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A7A68"/>
                </a:solidFill>
              </a:rPr>
              <a:t>Personal account area — manage details and view past purchases.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82880" y="1234440"/>
            <a:ext cx="411480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8" name="Text 6"/>
          <p:cNvSpPr/>
          <p:nvPr/>
        </p:nvSpPr>
        <p:spPr>
          <a:xfrm>
            <a:off x="365760" y="13716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Screen Does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737360"/>
            <a:ext cx="3749040" cy="36576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365760" y="18745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Users view and edit their personal account information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5760" y="23317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Buyers can view full purchase/order history with status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65760" y="27889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Sellers can track their listings and sales performance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65760" y="32461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Order records include product, amount, date, and payment status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65760" y="37033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Users can manage their account settings securely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65760" y="416052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4A9B6F"/>
                </a:solidFill>
              </a:rPr>
              <a:t>•  </a:t>
            </a:r>
            <a:r>
              <a:rPr lang="en-US" sz="1050" dirty="0">
                <a:solidFill>
                  <a:srgbClr val="1A2E22"/>
                </a:solidFill>
              </a:rPr>
              <a:t>Logout button ends the session and returns to the home page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480560" y="1234440"/>
            <a:ext cx="4480560" cy="3566160"/>
          </a:xfrm>
          <a:prstGeom prst="rect">
            <a:avLst/>
          </a:prstGeom>
          <a:solidFill>
            <a:srgbClr val="0D2218"/>
          </a:solidFill>
          <a:ln w="25400">
            <a:solidFill>
              <a:srgbClr val="4A9B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7" name="Shape 15"/>
          <p:cNvSpPr/>
          <p:nvPr/>
        </p:nvSpPr>
        <p:spPr>
          <a:xfrm>
            <a:off x="6400800" y="2697480"/>
            <a:ext cx="640080" cy="640080"/>
          </a:xfrm>
          <a:prstGeom prst="ellipse">
            <a:avLst/>
          </a:prstGeom>
          <a:solidFill>
            <a:srgbClr val="4A9B6F">
              <a:alpha val="80000"/>
            </a:srgbClr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Text 16"/>
          <p:cNvSpPr/>
          <p:nvPr/>
        </p:nvSpPr>
        <p:spPr>
          <a:xfrm>
            <a:off x="6519672" y="2834640"/>
            <a:ext cx="4023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▶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480560" y="4480560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4A9B6F"/>
                </a:solidFill>
              </a:rPr>
              <a:t>[ INSERT VIDEO HERE ]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82880" y="4846320"/>
            <a:ext cx="1280160" cy="201168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21" name="Text 19"/>
          <p:cNvSpPr/>
          <p:nvPr/>
        </p:nvSpPr>
        <p:spPr>
          <a:xfrm>
            <a:off x="182880" y="4846320"/>
            <a:ext cx="1280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</a:rPr>
              <a:t>SCREEN 8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3A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3" name="Text 1"/>
          <p:cNvSpPr/>
          <p:nvPr/>
        </p:nvSpPr>
        <p:spPr>
          <a:xfrm>
            <a:off x="365760" y="274320"/>
            <a:ext cx="8503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kern="0" spc="300" dirty="0">
                <a:solidFill>
                  <a:srgbClr val="4A9B6F"/>
                </a:solidFill>
                <a:latin typeface="Georgia" pitchFamily="34" charset="0"/>
              </a:rPr>
              <a:t>HYPE WEAR SA</a:t>
            </a:r>
          </a:p>
          <a:p>
            <a:r>
              <a:rPr lang="en-US" sz="1400" b="1" kern="0" spc="300" dirty="0">
                <a:solidFill>
                  <a:srgbClr val="4A9B6F"/>
                </a:solidFill>
                <a:latin typeface="Georgia" pitchFamily="34" charset="0"/>
              </a:rPr>
              <a:t>Clothing Store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503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Summary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365760" y="1444752"/>
            <a:ext cx="8412480" cy="45720"/>
          </a:xfrm>
          <a:prstGeom prst="rect">
            <a:avLst/>
          </a:prstGeom>
          <a:solidFill>
            <a:srgbClr val="4A9B6F"/>
          </a:solidFill>
          <a:ln/>
        </p:spPr>
        <p:txBody>
          <a:bodyPr/>
          <a:lstStyle/>
          <a:p>
            <a:endParaRPr lang="en-ZA"/>
          </a:p>
        </p:txBody>
      </p:sp>
      <p:sp>
        <p:nvSpPr>
          <p:cNvPr id="6" name="Shape 4"/>
          <p:cNvSpPr/>
          <p:nvPr/>
        </p:nvSpPr>
        <p:spPr>
          <a:xfrm>
            <a:off x="320040" y="1600200"/>
            <a:ext cx="4206240" cy="685800"/>
          </a:xfrm>
          <a:prstGeom prst="rect">
            <a:avLst/>
          </a:prstGeom>
          <a:solidFill>
            <a:srgbClr val="2C5F3E"/>
          </a:solidFill>
          <a:ln w="12700">
            <a:solidFill>
              <a:srgbClr val="4A9B6F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🏠  Home Page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94767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EDE0"/>
                </a:solidFill>
              </a:rPr>
              <a:t>Browse &amp; search all approved listings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54880" y="1600200"/>
            <a:ext cx="4206240" cy="685800"/>
          </a:xfrm>
          <a:prstGeom prst="rect">
            <a:avLst/>
          </a:prstGeom>
          <a:solidFill>
            <a:srgbClr val="2C5F3E"/>
          </a:solidFill>
          <a:ln w="12700">
            <a:solidFill>
              <a:srgbClr val="4A9B6F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4892040" y="16459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🔐  Login / Register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92040" y="194767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EDE0"/>
                </a:solidFill>
              </a:rPr>
              <a:t>Secure account creation and access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040" y="2404872"/>
            <a:ext cx="4206240" cy="685800"/>
          </a:xfrm>
          <a:prstGeom prst="rect">
            <a:avLst/>
          </a:prstGeom>
          <a:solidFill>
            <a:srgbClr val="2C5F3E"/>
          </a:solidFill>
          <a:ln w="12700">
            <a:solidFill>
              <a:srgbClr val="4A9B6F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3" name="Text 11"/>
          <p:cNvSpPr/>
          <p:nvPr/>
        </p:nvSpPr>
        <p:spPr>
          <a:xfrm>
            <a:off x="457200" y="245059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🛍️  Seller Dashboard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2752344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EDE0"/>
                </a:solidFill>
              </a:rPr>
              <a:t>Manage listings &amp; track performance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54880" y="2404872"/>
            <a:ext cx="4206240" cy="685800"/>
          </a:xfrm>
          <a:prstGeom prst="rect">
            <a:avLst/>
          </a:prstGeom>
          <a:solidFill>
            <a:srgbClr val="2C5F3E"/>
          </a:solidFill>
          <a:ln w="12700">
            <a:solidFill>
              <a:srgbClr val="4A9B6F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Text 14"/>
          <p:cNvSpPr/>
          <p:nvPr/>
        </p:nvSpPr>
        <p:spPr>
          <a:xfrm>
            <a:off x="4892040" y="245059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📦  Product Detail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92040" y="2752344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EDE0"/>
                </a:solidFill>
              </a:rPr>
              <a:t>Full item view + buyer messaging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0040" y="3209544"/>
            <a:ext cx="4206240" cy="685800"/>
          </a:xfrm>
          <a:prstGeom prst="rect">
            <a:avLst/>
          </a:prstGeom>
          <a:solidFill>
            <a:srgbClr val="2C5F3E"/>
          </a:solidFill>
          <a:ln w="12700">
            <a:solidFill>
              <a:srgbClr val="4A9B6F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Text 17"/>
          <p:cNvSpPr/>
          <p:nvPr/>
        </p:nvSpPr>
        <p:spPr>
          <a:xfrm>
            <a:off x="457200" y="325526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🛒  Cart &amp; Checkout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5701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EDE0"/>
                </a:solidFill>
              </a:rPr>
              <a:t>Secure purchase and order tracking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754880" y="3209544"/>
            <a:ext cx="4206240" cy="685800"/>
          </a:xfrm>
          <a:prstGeom prst="rect">
            <a:avLst/>
          </a:prstGeom>
          <a:solidFill>
            <a:srgbClr val="2C5F3E"/>
          </a:solidFill>
          <a:ln w="12700">
            <a:solidFill>
              <a:srgbClr val="4A9B6F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Text 20"/>
          <p:cNvSpPr/>
          <p:nvPr/>
        </p:nvSpPr>
        <p:spPr>
          <a:xfrm>
            <a:off x="4892040" y="325526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💬  Messaging / Inbox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92040" y="355701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EDE0"/>
                </a:solidFill>
              </a:rPr>
              <a:t>Direct buyer-seller communication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20040" y="4014216"/>
            <a:ext cx="4206240" cy="685800"/>
          </a:xfrm>
          <a:prstGeom prst="rect">
            <a:avLst/>
          </a:prstGeom>
          <a:solidFill>
            <a:srgbClr val="2C5F3E"/>
          </a:solidFill>
          <a:ln w="12700">
            <a:solidFill>
              <a:srgbClr val="4A9B6F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Text 23"/>
          <p:cNvSpPr/>
          <p:nvPr/>
        </p:nvSpPr>
        <p:spPr>
          <a:xfrm>
            <a:off x="457200" y="405993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⚙️  Admin Panel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436168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EDE0"/>
                </a:solidFill>
              </a:rPr>
              <a:t>Seller &amp; listing approval system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54880" y="4014216"/>
            <a:ext cx="4206240" cy="685800"/>
          </a:xfrm>
          <a:prstGeom prst="rect">
            <a:avLst/>
          </a:prstGeom>
          <a:solidFill>
            <a:srgbClr val="2C5F3E"/>
          </a:solidFill>
          <a:ln w="12700">
            <a:solidFill>
              <a:srgbClr val="4A9B6F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Text 26"/>
          <p:cNvSpPr/>
          <p:nvPr/>
        </p:nvSpPr>
        <p:spPr>
          <a:xfrm>
            <a:off x="4892040" y="405993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👤  Profile &amp; Orders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892040" y="4361688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EDE0"/>
                </a:solidFill>
              </a:rPr>
              <a:t>Account management &amp; history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75488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A7A68"/>
                </a:solidFill>
              </a:rPr>
              <a:t>Web Development (Intermediate) | WEDE6021 | Part 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898</Words>
  <Application>Microsoft Office PowerPoint</Application>
  <PresentationFormat>On-screen Show (16:9)</PresentationFormat>
  <Paragraphs>159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Pastimes Web Application – Part 2 Presentation</dc:title>
  <dc:subject>PptxGenJS Presentation</dc:subject>
  <dc:creator>PptxGenJS</dc:creator>
  <cp:lastModifiedBy>chloe langenhoven</cp:lastModifiedBy>
  <cp:revision>3</cp:revision>
  <dcterms:created xsi:type="dcterms:W3CDTF">2026-05-04T18:01:11Z</dcterms:created>
  <dcterms:modified xsi:type="dcterms:W3CDTF">2026-05-04T19:11:22Z</dcterms:modified>
</cp:coreProperties>
</file>